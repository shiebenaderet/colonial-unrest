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 Now is the day in small: one colony did it, Parliament punished it hard to scare the rest. Come back to it at the end: did your answers match what the colonies did? The source sheet comes in Level 1 (Look at, Start with, word bank) and Level 2 (Look at only, four lines each); side 1 is the same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each box as you say it. The third box is a question on purpose: students answer it themselves from the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Britain had sent soldiers to Boston in 1768 to enforce its laws. Paul Revere's engraving spread the Patriot version of the night across the colonies.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fills the gap between card 5 and card 6. The tea tax is the one Townshend tax Parliament kept on purpose, to show it still had the right to tax the colonies.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Numbers: the Boston Tea Party Ships &amp; Museum (bostonteapartyship.com): about 340 chests, over 92,000 pounds, valued by the East India Company at £9,659, more than $1.7 million today. Many books say 342 chests; "more than 340" is true either way. Three ships: Dartmouth, Eleanor, Beaver.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Malcolm: John Malcolm, a customs officer, was tarred and feathered in Boston on January 25, 1774. Dawe's print is a London view of it, made that October. Lord North's line, more or less: Boston will pay for every chest of tea, or Boston will not trade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word before the laws. Parliament called them the Coercive Acts (coerce: to force); the colonists' name stuck. The print: "The Bostonians in Distress," Philip Dawe, London, November 1774 (Met Museum, CC0).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the thumbs and leave the answer open. Students find it in the sources; the reveal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Pairs read; everyone writes. Set a 15-minute timer for reading plus questions 1-3. Source B is two Washington letters: line 1 June 1774 to George William Fairfax, line 2 July 1774 to Bryan Fairfax.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picture shows the Level 2 side. Level 1 sheets have the same questions with a Start with frame and a word bank under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screen, no talking for 30 seconds. Ask: what do you notice? Then zoom in, one part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Lord North led the Intolerable Acts through Parliament.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hangs from North's pocket. "Boston cannonaded" is a threat in the picture, not something that happened in 1774.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Left, kneeling: Lord Sandwich. Right, in the wig: Lord Mansfield, the chief justice.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figure is Lord Bute, in Scottish dress. General Thomas Gage became governor in May 1774.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a student answer the question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Push: France and Spain both later joined the war against Britain.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petition is a formal request. Last slide of the zoom: ask what the cartoonist wants us to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version ran in the London Magazine: some people in Britain opposed the Acts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 for: Britain is attacking America, not punishing a criminal; Britain itself (Britannia) is ashamed; Britain's enemies are enjoying it. Then: who is NOT in the picture? The other colonies.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1 sheets have a fuller starter on the page. Show the next slide only after most pencils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 to the prediction: how many thumbs were right? And back to the Do Now: punish the group to scare everyone else, and the group pulls together. Made 74 years later, so source the picture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starter is the study site reading's own check-in starter, so the site and the exit ticket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555555"/>
                </a:solidFill>
                <a:latin typeface="Atkinson Hyperlegible"/>
              </a:rPr>
              <a:t>Today is…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7A2A28"/>
                </a:solidFill>
                <a:latin typeface="Atkinson Hyperlegible"/>
              </a:rPr>
              <a:t>Thursday, October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Week 7 · The Intolerable 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675120" cy="224028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2A28"/>
                </a:solidFill>
                <a:latin typeface="Atkinson Hyperlegible"/>
              </a:rPr>
              <a:t>Do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6309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Atkinson Hyperlegible"/>
              </a:rPr>
              <a:t>Your whole class gets punished for what one group did. How would you react?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Atkinson Hyperlegible"/>
              </a:rPr>
              <a:t>Start with: </a:t>
            </a:r>
            <a:r>
              <a:rPr sz="1900" b="0" i="0">
                <a:solidFill>
                  <a:srgbClr val="1A1A1A"/>
                </a:solidFill>
                <a:latin typeface="Atkinson Hyperlegible"/>
              </a:rPr>
              <a:t>“If my whole class got punished, I would ___ because ___.”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2A28"/>
                </a:solidFill>
                <a:latin typeface="Atkinson Hyperlegible"/>
              </a:rPr>
              <a:t>Learning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1A1A"/>
                </a:solidFill>
                <a:latin typeface="Atkinson Hyperlegible"/>
              </a:rPr>
              <a:t>WALT: </a:t>
            </a:r>
            <a:r>
              <a:rPr sz="2000" b="0" i="0">
                <a:solidFill>
                  <a:srgbClr val="1A1A1A"/>
                </a:solidFill>
                <a:latin typeface="Atkinson Hyperlegible"/>
              </a:rPr>
              <a:t>Analyzing how people and movements changed history (H2.6-8.5)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1A1A"/>
                </a:solidFill>
                <a:latin typeface="Atkinson Hyperlegible"/>
              </a:rPr>
              <a:t>I can: </a:t>
            </a:r>
            <a:r>
              <a:rPr sz="2000" b="0" i="0">
                <a:solidFill>
                  <a:srgbClr val="1A1A1A"/>
                </a:solidFill>
                <a:latin typeface="Atkinson Hyperlegible"/>
              </a:rPr>
              <a:t>You explain and analyze how an individual or a movement shaped U.S.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6576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2A28"/>
                </a:solidFill>
                <a:latin typeface="Atkinson Hyperlegible"/>
              </a:rPr>
              <a:t>Materials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914400"/>
            <a:ext cx="3657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Notebook and vocabulary card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Pencil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The source sheet (handed out)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743200"/>
            <a:ext cx="4069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880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2A28"/>
                </a:solidFill>
                <a:latin typeface="Atkinson Hyperlegible"/>
              </a:rPr>
              <a:t>Agenda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291840"/>
            <a:ext cx="36576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1. Do Now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2. The Tea Party (1773)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3. Britain punishes Boston (1774)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4. Three voices, with a partner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5. The cartoon, up close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6. Exit Ticket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Today's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Three Steps, One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2697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B23A34"/>
                </a:solidFill>
                <a:latin typeface="Atkinson Hyperlegible"/>
              </a:rPr>
              <a:t>1773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2697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7A2A28"/>
                </a:solidFill>
                <a:latin typeface="Atkinson Hyperlegible"/>
              </a:rPr>
              <a:t>Boston throws the tea into the harbor.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77055" y="3063240"/>
            <a:ext cx="502920" cy="457200"/>
          </a:xfrm>
          <a:prstGeom prst="rightArrow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1" y="210312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1" y="2286000"/>
            <a:ext cx="2697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B23A34"/>
                </a:solidFill>
                <a:latin typeface="Atkinson Hyperlegible"/>
              </a:rPr>
              <a:t>1774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1" y="3017520"/>
            <a:ext cx="2697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7A2A28"/>
                </a:solidFill>
                <a:latin typeface="Atkinson Hyperlegible"/>
              </a:rPr>
              <a:t>Britain punishes Boston.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3063240"/>
            <a:ext cx="502920" cy="457200"/>
          </a:xfrm>
          <a:prstGeom prst="rightArrow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75903" y="210312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2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2286000"/>
            <a:ext cx="2697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B23A34"/>
                </a:solidFill>
                <a:latin typeface="Atkinson Hyperlegible"/>
              </a:rPr>
              <a:t>Then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3017520"/>
            <a:ext cx="2697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7A2A28"/>
                </a:solidFill>
                <a:latin typeface="Atkinson Hyperlegible"/>
              </a:rPr>
              <a:t>What do the other colonies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tkinson Hyperlegible"/>
              </a:rPr>
              <a:t>The big question: </a:t>
            </a:r>
            <a:r>
              <a:rPr sz="3200" b="0" i="0">
                <a:solidFill>
                  <a:srgbClr val="1A1A1A"/>
                </a:solidFill>
                <a:latin typeface="Atkinson Hyperlegible"/>
              </a:rPr>
              <a:t>when Britain punished Boston, did it work?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23A34"/>
                </a:solidFill>
                <a:latin typeface="Atkinson Hyperlegible"/>
              </a:rPr>
              <a:t>Card 5 · March 5, 1770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Soldiers fire on a crowd. Five colonists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1206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One of them: Crispus Attucks.</a:t>
            </a:r>
          </a:p>
          <a:p>
            <a:pPr algn="l">
              <a:spcAft>
                <a:spcPts val="14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Colonial leaders call it the Boston Massacre.</a:t>
            </a:r>
          </a:p>
          <a:p>
            <a:pPr algn="l">
              <a:spcAft>
                <a:spcPts val="14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What number did you give it?</a:t>
            </a:r>
          </a:p>
        </p:txBody>
      </p:sp>
      <p:pic>
        <p:nvPicPr>
          <p:cNvPr id="6" name="Picture 5" descr="w7-boston-massacre-chappel.jpg"/>
          <p:cNvPicPr>
            <a:picLocks noChangeAspect="1"/>
          </p:cNvPicPr>
          <p:nvPr/>
        </p:nvPicPr>
        <p:blipFill>
          <a:blip r:embed="rId3"/>
          <a:srcRect l="16233" r="16233"/>
          <a:stretch>
            <a:fillRect/>
          </a:stretch>
        </p:blipFill>
        <p:spPr>
          <a:xfrm>
            <a:off x="6126480" y="137160"/>
            <a:ext cx="6065215" cy="6720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Atkinson Hyperlegible"/>
              </a:rPr>
              <a:t>Image: </a:t>
            </a:r>
            <a:r>
              <a:rPr sz="1000" b="0" i="0">
                <a:solidFill>
                  <a:srgbClr val="555555"/>
                </a:solidFill>
                <a:latin typeface="Atkinson Hyperlegible"/>
              </a:rPr>
              <a:t>“The Boston Massacre,” engraving after Alonzo Chappel, about 1878. Public domain.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Between Card 5 and Card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Three Quiet Years, Then Tea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95728"/>
            <a:ext cx="10332720" cy="73152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67712"/>
            <a:ext cx="329184" cy="329184"/>
          </a:xfrm>
          <a:prstGeom prst="ellipse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1770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3474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1A1A1A"/>
                </a:solidFill>
                <a:latin typeface="Atkinson Hyperlegible"/>
              </a:rPr>
              <a:t>Parliament cancels the Townshend taxes, all but one: the tax on tea.</a:t>
            </a:r>
          </a:p>
        </p:txBody>
      </p:sp>
      <p:sp>
        <p:nvSpPr>
          <p:cNvPr id="9" name="Oval 8"/>
          <p:cNvSpPr/>
          <p:nvPr/>
        </p:nvSpPr>
        <p:spPr>
          <a:xfrm>
            <a:off x="5916168" y="2267712"/>
            <a:ext cx="329184" cy="329184"/>
          </a:xfrm>
          <a:prstGeom prst="ellipse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74320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1771–1772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337560"/>
            <a:ext cx="3474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1A1A1A"/>
                </a:solidFill>
                <a:latin typeface="Atkinson Hyperlegible"/>
              </a:rPr>
              <a:t>Things calm down. Most colonists buy British goods again.</a:t>
            </a:r>
          </a:p>
        </p:txBody>
      </p:sp>
      <p:sp>
        <p:nvSpPr>
          <p:cNvPr id="12" name="Oval 11"/>
          <p:cNvSpPr/>
          <p:nvPr/>
        </p:nvSpPr>
        <p:spPr>
          <a:xfrm>
            <a:off x="11082528" y="2267712"/>
            <a:ext cx="329184" cy="329184"/>
          </a:xfrm>
          <a:prstGeom prst="ellipse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8335" y="274320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1773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335" y="3337560"/>
            <a:ext cx="3474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1A1A1A"/>
                </a:solidFill>
                <a:latin typeface="Atkinson Hyperlegible"/>
              </a:rPr>
              <a:t>The Tea Act: cheaper tea from one company, but the tea tax stays.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Atkinson Hyperlegible"/>
              </a:rPr>
              <a:t>Boston's answer: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we still won't pay a tax we never voted for.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Card 6 · December 16, 1773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One Night in Boston Harbor</a:t>
            </a:r>
          </a:p>
        </p:txBody>
      </p:sp>
      <p:pic>
        <p:nvPicPr>
          <p:cNvPr id="5" name="Picture 4" descr="w7-tea-party-1846.jpg"/>
          <p:cNvPicPr>
            <a:picLocks noChangeAspect="1"/>
          </p:cNvPicPr>
          <p:nvPr/>
        </p:nvPicPr>
        <p:blipFill>
          <a:blip r:embed="rId3"/>
          <a:srcRect t="12616" b="12616"/>
          <a:stretch>
            <a:fillRect/>
          </a:stretch>
        </p:blipFill>
        <p:spPr>
          <a:xfrm>
            <a:off x="548640" y="1691640"/>
            <a:ext cx="110642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75488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ships boarded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7735" y="475488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735" y="48463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340+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735" y="55778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chests of tea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6830" y="475488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6830" y="48463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6830" y="55778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tons of tea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5925" y="475488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5925" y="48463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$1.7M+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5925" y="55778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tkinson Hyperlegible"/>
              </a:rPr>
              <a:t>in today's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Atkinson Hyperlegible"/>
              </a:rPr>
              <a:t>Image: </a:t>
            </a:r>
            <a:r>
              <a:rPr sz="1000" b="0" i="0">
                <a:solidFill>
                  <a:srgbClr val="555555"/>
                </a:solidFill>
                <a:latin typeface="Atkinson Hyperlegible"/>
              </a:rPr>
              <a:t>“The Destruction of Tea at Boston Harbor,” Currier lithograph, 1846. Public domain.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Why Massachusetts?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Boston Kept Pushing Back</a:t>
            </a:r>
          </a:p>
        </p:txBody>
      </p:sp>
      <p:pic>
        <p:nvPicPr>
          <p:cNvPr id="5" name="Picture 4" descr="w7-boston-massacre-chappel.jpg"/>
          <p:cNvPicPr>
            <a:picLocks noChangeAspect="1"/>
          </p:cNvPicPr>
          <p:nvPr/>
        </p:nvPicPr>
        <p:blipFill>
          <a:blip r:embed="rId3"/>
          <a:srcRect t="7417" b="13775"/>
          <a:stretch>
            <a:fillRect/>
          </a:stretch>
        </p:blipFill>
        <p:spPr>
          <a:xfrm>
            <a:off x="548640" y="1691640"/>
            <a:ext cx="356616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8862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1770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Soldiers fire on a Boston crowd.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2514600"/>
            <a:ext cx="274320" cy="457200"/>
          </a:xfrm>
          <a:prstGeom prst="rightArrow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7-tea-party-1846.jpg"/>
          <p:cNvPicPr>
            <a:picLocks noChangeAspect="1"/>
          </p:cNvPicPr>
          <p:nvPr/>
        </p:nvPicPr>
        <p:blipFill>
          <a:blip r:embed="rId4"/>
          <a:srcRect l="20480" r="20480"/>
          <a:stretch>
            <a:fillRect/>
          </a:stretch>
        </p:blipFill>
        <p:spPr>
          <a:xfrm>
            <a:off x="4297679" y="1691640"/>
            <a:ext cx="356616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79" y="38862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Dec 1773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434340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Boston dumps the tea.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19" y="2514600"/>
            <a:ext cx="274320" cy="457200"/>
          </a:xfrm>
          <a:prstGeom prst="rightArrow">
            <a:avLst/>
          </a:prstGeom>
          <a:solidFill>
            <a:srgbClr val="B2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ndin-tarring-feathering-1774.jpg"/>
          <p:cNvPicPr>
            <a:picLocks noChangeAspect="1"/>
          </p:cNvPicPr>
          <p:nvPr/>
        </p:nvPicPr>
        <p:blipFill>
          <a:blip r:embed="rId5"/>
          <a:srcRect t="17242" b="40231"/>
          <a:stretch>
            <a:fillRect/>
          </a:stretch>
        </p:blipFill>
        <p:spPr>
          <a:xfrm>
            <a:off x="8046719" y="1691640"/>
            <a:ext cx="3566160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19" y="38862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Jan 1774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34340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A Boston crowd tars and feathers a tax officer.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21808"/>
            <a:ext cx="10515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tkinson Hyperlegible"/>
              </a:rPr>
              <a:t>Parliament's plan: 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punish Boston hard, so every other colony backs 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Atkinson Hyperlegible"/>
              </a:rPr>
              <a:t>Images: </a:t>
            </a:r>
            <a:r>
              <a:rPr sz="1000" b="0" i="0">
                <a:solidFill>
                  <a:srgbClr val="555555"/>
                </a:solidFill>
                <a:latin typeface="Atkinson Hyperlegible"/>
              </a:rPr>
              <a:t>Chappel engraving, about 1878; Currier lithograph, 1846; “The Bostonians Paying the Excise-Man,” Philip Dawe, London, 1774 (Met Museum). Public domain.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Your Vocabulary Card, Word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7A2A28"/>
                </a:solidFill>
                <a:latin typeface="Atkinson Hyperlegible"/>
              </a:rPr>
              <a:t>Intolerable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555555"/>
                </a:solidFill>
                <a:latin typeface="Atkinson Hyperlegible"/>
              </a:rPr>
              <a:t>in-TOL-er-uh-bull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6035040" cy="137160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5486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tkinson Hyperlegible"/>
              </a:rPr>
              <a:t>Means: 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so bad that you cannot put up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1A1A1A"/>
                </a:solidFill>
                <a:latin typeface="Atkinson Hyperlegible"/>
              </a:rPr>
              <a:t>Parliament called the 1774 laws the </a:t>
            </a:r>
            <a:r>
              <a:rPr sz="2400" b="1" i="0">
                <a:solidFill>
                  <a:srgbClr val="1A1A1A"/>
                </a:solidFill>
                <a:latin typeface="Atkinson Hyperlegible"/>
              </a:rPr>
              <a:t>Coercive Acts</a:t>
            </a:r>
            <a:r>
              <a:rPr sz="2400" b="0" i="0">
                <a:solidFill>
                  <a:srgbClr val="1A1A1A"/>
                </a:solidFill>
                <a:latin typeface="Atkinson Hyperlegible"/>
              </a:rPr>
              <a:t> (coerce: to force).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1A1A1A"/>
                </a:solidFill>
                <a:latin typeface="Atkinson Hyperlegible"/>
              </a:rPr>
              <a:t>Colonists gave them their own name: the </a:t>
            </a:r>
            <a:r>
              <a:rPr sz="2400" b="1" i="0">
                <a:solidFill>
                  <a:srgbClr val="1A1A1A"/>
                </a:solidFill>
                <a:latin typeface="Atkinson Hyperlegible"/>
              </a:rPr>
              <a:t>Intolerable 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320040"/>
            <a:ext cx="4800600" cy="594360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ndin-bostonians-in-distress-17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548640"/>
            <a:ext cx="402336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63550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Atkinson Hyperlegible"/>
              </a:rPr>
              <a:t>Image: </a:t>
            </a:r>
            <a:r>
              <a:rPr sz="1000" b="0" i="0">
                <a:solidFill>
                  <a:srgbClr val="555555"/>
                </a:solidFill>
                <a:latin typeface="Atkinson Hyperlegible"/>
              </a:rPr>
              <a:t>“The Bostonians in Distress,” Philip Dawe, London, 1774. Met Museum, public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23A34"/>
                </a:solidFill>
                <a:latin typeface="Atkinson Hyperlegible"/>
              </a:rPr>
              <a:t>Four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7A2A28"/>
                </a:solidFill>
                <a:latin typeface="Atkinson Hyperlegible"/>
              </a:rPr>
              <a:t>The Intolerable Acts, 1774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1. 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Boston's port is closed until the tea is paid for.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2. 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Massachusetts loses much of its right to govern itself.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3. 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British officials accused of crimes can be tried in another colony, or in Britain.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4. 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More soldiers can be quartered in colonists' buildings.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Will the other colonies help Boston, or stay out of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A1A"/>
                </a:solidFill>
                <a:latin typeface="Atkinson Hyperlegible"/>
              </a:rPr>
              <a:t>Thumbs up: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 they help Boston.</a:t>
            </a:r>
          </a:p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A1A"/>
                </a:solidFill>
                <a:latin typeface="Atkinson Hyperlegible"/>
              </a:rPr>
              <a:t>Thumbs down: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 they stay out of it.</a:t>
            </a:r>
          </a:p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Then you'll find out from </a:t>
            </a:r>
            <a:r>
              <a:rPr sz="2800" b="1" i="0">
                <a:solidFill>
                  <a:srgbClr val="1A1A1A"/>
                </a:solidFill>
                <a:latin typeface="Atkinson Hyperlegible"/>
              </a:rPr>
              <a:t>three real voices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 from outside Massachusetts.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Your Source Sheet · Side 1 · 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7A2A28"/>
                </a:solidFill>
                <a:latin typeface="Atkinson Hyperlegible"/>
              </a:rPr>
              <a:t>Read Three Voices With a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1.  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Sit with your partner. </a:t>
            </a:r>
            <a:r>
              <a:rPr sz="2600" b="1" i="0">
                <a:solidFill>
                  <a:srgbClr val="1A1A1A"/>
                </a:solidFill>
                <a:latin typeface="Atkinson Hyperlegible"/>
              </a:rPr>
              <a:t>Each of you gets your own sheet.</a:t>
            </a:r>
          </a:p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2.  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Read the </a:t>
            </a:r>
            <a:r>
              <a:rPr sz="2600" b="1" i="0">
                <a:solidFill>
                  <a:srgbClr val="1A1A1A"/>
                </a:solidFill>
                <a:latin typeface="Atkinson Hyperlegible"/>
              </a:rPr>
              <a:t>plain-English column first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. Then find the same idea in the original words. The line numbers match.</a:t>
            </a:r>
          </a:p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3.  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Stuck on a word? The meanings are </a:t>
            </a:r>
            <a:r>
              <a:rPr sz="2600" b="1" i="0">
                <a:solidFill>
                  <a:srgbClr val="1A1A1A"/>
                </a:solidFill>
                <a:latin typeface="Atkinson Hyperlegible"/>
              </a:rPr>
              <a:t>under each source.</a:t>
            </a:r>
          </a:p>
        </p:txBody>
      </p:sp>
      <p:pic>
        <p:nvPicPr>
          <p:cNvPr id="6" name="Picture 5" descr="w7-source-sheet-sid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253" y="274320"/>
            <a:ext cx="4981402" cy="6446520"/>
          </a:xfrm>
          <a:prstGeom prst="rect">
            <a:avLst/>
          </a:prstGeom>
          <a:ln w="12700">
            <a:solidFill>
              <a:srgbClr val="9C948A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Your Source Sheet · Side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7A2A28"/>
                </a:solidFill>
                <a:latin typeface="Atkinson Hyperlegible"/>
              </a:rPr>
              <a:t>Then Write Your Own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1.  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Talk it over with your partner, but </a:t>
            </a:r>
            <a:r>
              <a:rPr sz="2600" b="1" i="0">
                <a:solidFill>
                  <a:srgbClr val="1A1A1A"/>
                </a:solidFill>
                <a:latin typeface="Atkinson Hyperlegible"/>
              </a:rPr>
              <a:t>write your own answers.</a:t>
            </a:r>
          </a:p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2.  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Answer </a:t>
            </a:r>
            <a:r>
              <a:rPr sz="2600" b="1" i="0">
                <a:solidFill>
                  <a:srgbClr val="1A1A1A"/>
                </a:solidFill>
                <a:latin typeface="Atkinson Hyperlegible"/>
              </a:rPr>
              <a:t>questions 1 to 3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. Each one tells you where to look.</a:t>
            </a:r>
          </a:p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B23A34"/>
                </a:solidFill>
                <a:latin typeface="Atkinson Hyperlegible"/>
              </a:rPr>
              <a:t>3.  </a:t>
            </a:r>
            <a:r>
              <a:rPr sz="2600" b="1" i="0">
                <a:solidFill>
                  <a:srgbClr val="1A1A1A"/>
                </a:solidFill>
                <a:latin typeface="Atkinson Hyperlegible"/>
              </a:rPr>
              <a:t>Skip question 4 for now.</a:t>
            </a:r>
            <a:r>
              <a:rPr sz="2600" b="0" i="0">
                <a:solidFill>
                  <a:srgbClr val="1A1A1A"/>
                </a:solidFill>
                <a:latin typeface="Atkinson Hyperlegible"/>
              </a:rPr>
              <a:t> We look at a cartoon first.</a:t>
            </a:r>
          </a:p>
        </p:txBody>
      </p:sp>
      <p:pic>
        <p:nvPicPr>
          <p:cNvPr id="6" name="Picture 5" descr="w7-source-sheet-side2-level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253" y="274320"/>
            <a:ext cx="4981402" cy="6446520"/>
          </a:xfrm>
          <a:prstGeom prst="rect">
            <a:avLst/>
          </a:prstGeom>
          <a:ln w="12700">
            <a:solidFill>
              <a:srgbClr val="9C948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7-able-doctor-17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038" y="274320"/>
            <a:ext cx="9161618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55555"/>
                </a:solidFill>
                <a:latin typeface="Atkinson Hyperlegible"/>
              </a:rPr>
              <a:t>“The able Doctor, or America Swallowing the Bitter Draught.” Paul Revere's engraving of a London print, 1774. Public domain.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53" y="548640"/>
            <a:ext cx="5767893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1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Lord North Pours the Tea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The prime minister forces tea down America's throat.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America spits it back at him.</a:t>
            </a:r>
          </a:p>
        </p:txBody>
      </p:sp>
      <p:pic>
        <p:nvPicPr>
          <p:cNvPr id="8" name="Picture 7" descr="ad-where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04833"/>
            <a:ext cx="6217920" cy="5448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Boston Port Bill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The paper names the first Intolerable Act: Boston's harbor is closed.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Behind it, a label over the town: Boston cannonaded.</a:t>
            </a:r>
          </a:p>
        </p:txBody>
      </p:sp>
      <p:pic>
        <p:nvPicPr>
          <p:cNvPr id="8" name="Picture 7" descr="ad-wher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5541"/>
            <a:ext cx="6217920" cy="3586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3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America, Held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America is a woman pinned to the ground.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A British lord in a judge's wig holds her down.</a:t>
            </a:r>
          </a:p>
        </p:txBody>
      </p:sp>
      <p:pic>
        <p:nvPicPr>
          <p:cNvPr id="8" name="Picture 7" descr="ad-where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095" y="548640"/>
            <a:ext cx="2775008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4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Military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A British lord holds a sword marked Military Law.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In 1774, a British general became governor of Massachusetts.</a:t>
            </a:r>
          </a:p>
        </p:txBody>
      </p:sp>
      <p:pic>
        <p:nvPicPr>
          <p:cNvPr id="8" name="Picture 7" descr="ad-where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51" y="548640"/>
            <a:ext cx="4310296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5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Britannia Looks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Britannia stands for Britain itself.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She hides her eyes. What does that say about the punishment?</a:t>
            </a:r>
          </a:p>
        </p:txBody>
      </p:sp>
      <p:pic>
        <p:nvPicPr>
          <p:cNvPr id="8" name="Picture 7" descr="ad-where-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41" y="548640"/>
            <a:ext cx="4439317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6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France and Spain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Two men dressed as France and Spain point and watch.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They were Britain's old rivals. Who wins if Britain fights its own colonies?</a:t>
            </a:r>
          </a:p>
        </p:txBody>
      </p:sp>
      <p:pic>
        <p:nvPicPr>
          <p:cNvPr id="8" name="Picture 7" descr="ad-where-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6675120" cy="6217920"/>
          </a:xfrm>
          <a:prstGeom prst="rect">
            <a:avLst/>
          </a:prstGeom>
          <a:solidFill>
            <a:srgbClr val="2B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-zoom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9730"/>
            <a:ext cx="6217920" cy="3278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3840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Zoom In · 7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82296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A2A28"/>
                </a:solidFill>
                <a:latin typeface="Atkinson Hyperlegible"/>
              </a:rPr>
              <a:t>Boston's 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On the ground: a paper that says Boston Petition.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Atkinson Hyperlegible"/>
              </a:rPr>
              <a:t>Boston's request to Parliament, left lying in the dirt.</a:t>
            </a:r>
          </a:p>
        </p:txBody>
      </p:sp>
      <p:pic>
        <p:nvPicPr>
          <p:cNvPr id="8" name="Picture 7" descr="ad-where-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4520590"/>
            <a:ext cx="3108960" cy="20173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23A34"/>
                </a:solidFill>
                <a:latin typeface="Atkinson Hyperlegible"/>
              </a:rPr>
              <a:t>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7A2A28"/>
                </a:solidFill>
                <a:latin typeface="Atkinson Hyperlegible"/>
              </a:rPr>
              <a:t>Source It Before You Believe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1.  </a:t>
            </a:r>
            <a:r>
              <a:rPr sz="3000" b="1" i="0">
                <a:solidFill>
                  <a:srgbClr val="1A1A1A"/>
                </a:solidFill>
                <a:latin typeface="Atkinson Hyperlegible"/>
              </a:rPr>
              <a:t>Who: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Paul Revere, a Boston Patriot, copying a cartoon first printed in London.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2.  </a:t>
            </a:r>
            <a:r>
              <a:rPr sz="3000" b="1" i="0">
                <a:solidFill>
                  <a:srgbClr val="1A1A1A"/>
                </a:solidFill>
                <a:latin typeface="Atkinson Hyperlegible"/>
              </a:rPr>
              <a:t>When: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1774, the year of the Intolerable Acts.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B23A34"/>
                </a:solidFill>
                <a:latin typeface="Atkinson Hyperlegible"/>
              </a:rPr>
              <a:t>3.  </a:t>
            </a:r>
            <a:r>
              <a:rPr sz="3000" b="1" i="0">
                <a:solidFill>
                  <a:srgbClr val="1A1A1A"/>
                </a:solidFill>
                <a:latin typeface="Atkinson Hyperlegible"/>
              </a:rPr>
              <a:t>Why: </a:t>
            </a:r>
            <a:r>
              <a:rPr sz="3000" b="0" i="0">
                <a:solidFill>
                  <a:srgbClr val="1A1A1A"/>
                </a:solidFill>
                <a:latin typeface="Atkinson Hyperlegible"/>
              </a:rPr>
              <a:t>to make the punishment look like an attack. An argument, not a photograph.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Read the Picture · With Your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What is the cartoon saying about the Intolerable Acts?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Think about every part we zoomed in on. </a:t>
            </a:r>
            <a:r>
              <a:rPr sz="2800" b="1" i="0">
                <a:solidFill>
                  <a:srgbClr val="1A1A1A"/>
                </a:solidFill>
                <a:latin typeface="Atkinson Hyperlegible"/>
              </a:rPr>
              <a:t>Talk it over with your partner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, then be ready to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1">
                <a:solidFill>
                  <a:srgbClr val="1A1A1A"/>
                </a:solidFill>
                <a:latin typeface="Atkinson Hyperlegible"/>
              </a:rPr>
              <a:t>The cartoon says Britain ___. I can tell because ___.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Question 4 · On Your Own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Does the cartoon hold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The cartoon shows everyone else just watching. </a:t>
            </a:r>
            <a:r>
              <a:rPr sz="2800" b="1" i="0">
                <a:solidFill>
                  <a:srgbClr val="1A1A1A"/>
                </a:solidFill>
                <a:latin typeface="Atkinson Hyperlegible"/>
              </a:rPr>
              <a:t>Use the three sources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 and the box at the top of side 2.</a:t>
            </a:r>
          </a:p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A1A"/>
                </a:solidFill>
                <a:latin typeface="Atkinson Hyperlegible"/>
              </a:rPr>
              <a:t>Write question 4 on your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1">
                <a:solidFill>
                  <a:srgbClr val="1A1A1A"/>
                </a:solidFill>
                <a:latin typeface="Atkinson Hyperlegible"/>
              </a:rPr>
              <a:t>The cartoon says ___, but the sources show ___.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23A34"/>
                </a:solidFill>
                <a:latin typeface="Atkinson Hyperlegible"/>
              </a:rP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7A2A28"/>
                </a:solidFill>
                <a:latin typeface="Atkinson Hyperlegible"/>
              </a:rPr>
              <a:t>One Way to Answer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000" b="0" i="0">
                <a:solidFill>
                  <a:srgbClr val="1A1A1A"/>
                </a:solidFill>
                <a:latin typeface="Atkinson Hyperlegible"/>
              </a:rPr>
              <a:t>Check yours: did you use at least one source?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23A34"/>
                </a:solidFill>
                <a:latin typeface="Atkinson Hyperlegible"/>
              </a:rPr>
              <a:t>A finished answer to question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19472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A1A1A"/>
                </a:solidFill>
                <a:latin typeface="Atkinson Hyperlegible"/>
              </a:rPr>
              <a:t>The cartoon says everyone just watches. Source A shows Virginia's lawmakers set a day of fasting for Boston, so the cartoon is not the whole story.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23A34"/>
                </a:solidFill>
                <a:latin typeface="Atkinson Hyperlegible"/>
              </a:rPr>
              <a:t>The Punishment Backfired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It pulled the colonies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1206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1A1A1A"/>
                </a:solidFill>
                <a:latin typeface="Atkinson Hyperlegible"/>
              </a:rPr>
              <a:t>Other colonies sent food and money to Boston.</a:t>
            </a:r>
          </a:p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1A1A1A"/>
                </a:solidFill>
                <a:latin typeface="Atkinson Hyperlegible"/>
              </a:rPr>
              <a:t>September 1774: twelve colonies send delegates to Philadelphia.</a:t>
            </a:r>
          </a:p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1A1A1A"/>
                </a:solidFill>
                <a:latin typeface="Atkinson Hyperlegible"/>
              </a:rPr>
              <a:t>They call a new boycott and ask Parliament to reverse the acts.</a:t>
            </a:r>
          </a:p>
        </p:txBody>
      </p:sp>
      <p:pic>
        <p:nvPicPr>
          <p:cNvPr id="6" name="Picture 5" descr="w7-first-prayer-in-congress.jpg"/>
          <p:cNvPicPr>
            <a:picLocks noChangeAspect="1"/>
          </p:cNvPicPr>
          <p:nvPr/>
        </p:nvPicPr>
        <p:blipFill>
          <a:blip r:embed="rId3"/>
          <a:srcRect l="17635" r="17635"/>
          <a:stretch>
            <a:fillRect/>
          </a:stretch>
        </p:blipFill>
        <p:spPr>
          <a:xfrm>
            <a:off x="6126480" y="137160"/>
            <a:ext cx="6065215" cy="6720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555555"/>
                </a:solidFill>
                <a:latin typeface="Atkinson Hyperlegible"/>
              </a:rPr>
              <a:t>Image: </a:t>
            </a:r>
            <a:r>
              <a:rPr sz="1000" b="0" i="0">
                <a:solidFill>
                  <a:srgbClr val="555555"/>
                </a:solidFill>
                <a:latin typeface="Atkinson Hyperlegible"/>
              </a:rPr>
              <a:t>“The First Prayer in Congress,” September 1774. Engraving after T. H. Matteson, 1848. Public domain.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23A34"/>
                </a:solidFill>
                <a:latin typeface="Atkinson Hyperlegible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7A2A28"/>
                </a:solidFill>
                <a:latin typeface="Atkinson Hyperlegible"/>
              </a:rPr>
              <a:t>How did punishing Massachusetts affect the other colonies?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A1A"/>
                </a:solidFill>
                <a:latin typeface="Atkinson Hyperlegible"/>
              </a:rPr>
              <a:t>Use </a:t>
            </a:r>
            <a:r>
              <a:rPr sz="2800" b="1" i="0">
                <a:solidFill>
                  <a:srgbClr val="1A1A1A"/>
                </a:solidFill>
                <a:latin typeface="Atkinson Hyperlegible"/>
              </a:rPr>
              <a:t>your source sheet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 and today's slides.</a:t>
            </a:r>
          </a:p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A1A"/>
                </a:solidFill>
                <a:latin typeface="Atkinson Hyperlegible"/>
              </a:rPr>
              <a:t>Answer on your own</a:t>
            </a:r>
            <a:r>
              <a:rPr sz="2800" b="0" i="0">
                <a:solidFill>
                  <a:srgbClr val="1A1A1A"/>
                </a:solidFill>
                <a:latin typeface="Atkinson Hyperlegible"/>
              </a:rPr>
              <a:t> in one or two sentences.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6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1">
                <a:solidFill>
                  <a:srgbClr val="1A1A1A"/>
                </a:solidFill>
                <a:latin typeface="Atkinson Hyperlegible"/>
              </a:rPr>
              <a:t>Before the Intolerable Acts, the colonies ___. After them, the colonies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